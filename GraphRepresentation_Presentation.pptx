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Graph Representation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BFS Traversal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2331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Mathematics — Spring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" y="26334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AB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10 — Rosen  |  Project II: Graph Representation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3063240"/>
            <a:ext cx="832104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00400"/>
            <a:ext cx="4114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Nasser Abozaid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241002067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Yousif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241001668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320040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University — Faculty of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 to Graph Theory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06040" cy="3566160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100584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10332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Graph?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" y="1417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structure G = (V, E) consisting of Vertices (nodes) and Edges (connections between nodes).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46120" y="1005840"/>
            <a:ext cx="2606040" cy="3566160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100584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10332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Graph Theory?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417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model relationships in computer science, networks, social systems, and many optimisation problems.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005840"/>
            <a:ext cx="2606040" cy="3566160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1005840"/>
            <a:ext cx="260604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3912" y="1033272"/>
            <a:ext cx="2468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 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0488" y="1417320"/>
            <a:ext cx="239572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apply graph theory to model Nile University campus paths using three representation techniques + BFS.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/ Topic Definition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14400"/>
            <a:ext cx="502920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Motivation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efficiently model and navigate a university campus?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are connected by roads and footpaths. Finding a path between two buildings, or simply understanding which buildings are reachable from any point, requires a structured data representation.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lists of directions are inefficient and cannot be queried algorithmically. Graph theory solves this by treating the campus as a network.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0" y="914400"/>
            <a:ext cx="3017520" cy="38862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79008" y="1005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 Specification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79008" y="1444752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map (buildings + paths)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graph representations + BFS traversal order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GRAPH?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algorithmic search, path finding, and efficient data access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Campus Graph — The Data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0" y="1463040"/>
            <a:ext cx="-2468880" cy="1097280"/>
          </a:xfrm>
          <a:prstGeom prst="line">
            <a:avLst/>
          </a:prstGeom>
          <a:noFill/>
          <a:ln w="31750">
            <a:solidFill>
              <a:srgbClr val="78C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1463040"/>
            <a:ext cx="1463040" cy="1097280"/>
          </a:xfrm>
          <a:prstGeom prst="line">
            <a:avLst/>
          </a:prstGeom>
          <a:noFill/>
          <a:ln w="31750">
            <a:solidFill>
              <a:srgbClr val="78C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0" y="2560320"/>
            <a:ext cx="0" cy="1280160"/>
          </a:xfrm>
          <a:prstGeom prst="line">
            <a:avLst/>
          </a:prstGeom>
          <a:noFill/>
          <a:ln w="31750">
            <a:solidFill>
              <a:srgbClr val="78C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2560320"/>
            <a:ext cx="0" cy="1280160"/>
          </a:xfrm>
          <a:prstGeom prst="line">
            <a:avLst/>
          </a:prstGeom>
          <a:noFill/>
          <a:ln w="31750">
            <a:solidFill>
              <a:srgbClr val="78C8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3840480"/>
            <a:ext cx="0" cy="1005840"/>
          </a:xfrm>
          <a:prstGeom prst="line">
            <a:avLst/>
          </a:prstGeom>
          <a:noFill/>
          <a:ln w="31750">
            <a:solidFill>
              <a:srgbClr val="78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18872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22529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71600" y="228600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-365760" y="232257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03520" y="228600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25312" y="232257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Building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-365760" y="360273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Center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356616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25312" y="360273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Lab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4572000"/>
            <a:ext cx="548640" cy="548640"/>
          </a:xfrm>
          <a:prstGeom prst="ellipse">
            <a:avLst/>
          </a:prstGeom>
          <a:solidFill>
            <a:srgbClr val="1C7293"/>
          </a:solidFill>
          <a:ln w="25400">
            <a:solidFill>
              <a:srgbClr val="78C8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-365760" y="4608576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005840"/>
            <a:ext cx="1737360" cy="22860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109728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Buildings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Paths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Unweighted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Representation 1 — Adjacency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dictionary where each vertex (building) maps to a list of its direct neighbors.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Space-efficient for sparse graphs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 neighbor iteration: O(degree)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 natural in Python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 + E)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check: O(degree)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960120"/>
            <a:ext cx="457200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Implementation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34840" y="1444752"/>
            <a:ext cx="4297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campus_map = {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"Main Gate":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["Library",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"Engineering Bldg"],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"Library":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["Main Gate",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"Student Center"],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"Engineering Bldg":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["Main Gate",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"Computer Lab"],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"Student Center":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["Library",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"Cafeteria"],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"Computer Lab":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["Engineering Bldg"],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"Cafeteria":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["Student Center"]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Representation 2 — Adjacency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2004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N×N grid where matrix[i][j] = 1 means node i is directly connected to node j.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our graph is UNDIRECTED, the matrix is symmetric: if [i][j]=1 then [j][i]=1.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O(1) edge lookup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to implement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O(V²)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94760" y="960120"/>
          <a:ext cx="5029200" cy="3931920"/>
        </p:xfrm>
        <a:graphic>
          <a:graphicData uri="http://schemas.openxmlformats.org/drawingml/2006/table">
            <a:tbl>
              <a:tblPr/>
              <a:tblGrid>
                <a:gridCol w="731520"/>
                <a:gridCol w="713232"/>
                <a:gridCol w="713232"/>
                <a:gridCol w="713232"/>
                <a:gridCol w="713232"/>
                <a:gridCol w="713232"/>
                <a:gridCol w="713232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794760" y="46634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not connected   |   1 = connected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Representation 3 — Edge List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6576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it?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list of all unique edges in the graph, each stored as a pair (vertex A, vertex B).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edges are undirected, each edge is stored ONCE only.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Minimal storage for edges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Easy to iterate all edges (e.g., Kruskal's MST)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algn="l" indent="0" marL="0">
              <a:buNone/>
            </a:pPr>
            <a:r>
              <a:rPr lang="en-US" sz="1250" b="1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Space: O(E)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960120"/>
            <a:ext cx="457200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5 Unique Edges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4297680" cy="530352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5544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5544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Gate  ──  Library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148840"/>
            <a:ext cx="4297680" cy="530352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9456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1945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Gate  ──  Engineering Building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788920"/>
            <a:ext cx="4297680" cy="530352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28346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  ──  Student Center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3429000"/>
            <a:ext cx="4297680" cy="530352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4747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34747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Building  ──  Computer Lab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34840" y="4069080"/>
            <a:ext cx="4297680" cy="530352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1148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41148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Center  ──  Cafeteria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Comparing the Three Representations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3886200"/>
        </p:xfrm>
        <a:graphic>
          <a:graphicData uri="http://schemas.openxmlformats.org/drawingml/2006/table">
            <a:tbl>
              <a:tblPr/>
              <a:tblGrid>
                <a:gridCol w="1828800"/>
                <a:gridCol w="2167128"/>
                <a:gridCol w="2167128"/>
                <a:gridCol w="2167128"/>
              </a:tblGrid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Adjacency Matrix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 + 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Check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✓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Neighbor 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O(degree) ✓ Best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Sparse?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A04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(wasted space)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 Dense?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517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Project Uses?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Generated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Conversion: Adjacency List → Matrix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4023360" cy="13716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 — Assign index numbers to vertices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0=Main Gate  1=Library  2=Eng.Bldg  3=St.Center  4=Comp.Lab  5=Cafeteria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2514600"/>
            <a:ext cx="4023360" cy="23774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87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 — For each edge, set matrix[i][j] =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Gate→Library     : matrix[0][1]=1, matrix[1][0]=1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Gate→Eng.Bldg   : matrix[0][2]=1, matrix[2][0]=1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Library→St.Center     : matrix[1][3]=1, matrix[3][1]=1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Eng.Bldg→Comp.Lab    : matrix[2][4]=1, matrix[4][2]=1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St.Center→Cafeteria   : matrix[3][5]=1, matrix[5][3]=1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38862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7899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 — The resulting symmetric matrix: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463040"/>
          <a:ext cx="3840480" cy="3291840"/>
        </p:xfrm>
        <a:graphic>
          <a:graphicData uri="http://schemas.openxmlformats.org/drawingml/2006/table">
            <a:tbl>
              <a:tblPr/>
              <a:tblGrid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  <a:tr h="47026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B8FA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1B2E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 — BFS Algorithm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5720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BFS Works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the start node in the QUEUE. Mark it visited.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1993392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9339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Dequeue the front node → it becomes the current node.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523744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52374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neighbor of the current node: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054096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 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05409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If NOT visited → enqueue it &amp; mark visited.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4360" y="3584448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58444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2–3 until the queue is empty.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114800"/>
            <a:ext cx="411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1148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order recorded is the BFS traversal.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66360" y="960120"/>
            <a:ext cx="374904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Structures Used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03520" y="1463040"/>
            <a:ext cx="3474720" cy="1005840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508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17647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 First-Out (FIFO).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Python: collections.deque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level-by-level traversal.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2606040"/>
            <a:ext cx="3474720" cy="1005840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651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Visited Set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29077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already-visited nodes.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infinite loops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graphs with cycles.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03520" y="3749040"/>
            <a:ext cx="3474720" cy="1005840"/>
          </a:xfrm>
          <a:prstGeom prst="rect">
            <a:avLst/>
          </a:prstGeom>
          <a:solidFill>
            <a:srgbClr val="0A3D57"/>
          </a:solidFill>
          <a:ln w="12700">
            <a:solidFill>
              <a:srgbClr val="0A3D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3794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Order List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40507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visit sequence.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 the final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 output.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Worked Example — BFS from Main Gate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384048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2743200"/>
                <a:gridCol w="29260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Visited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 After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Visited So Far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Library, Eng. Bldg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Eng. Bldg, Student Ctr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Gate, Library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Bldg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Ctr, Computer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Eng. Bldg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Center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Lab, Cafeteria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Student Ctr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Computer Lab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8C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A8E6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Cafeteria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D8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(empty)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A8E6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Cafeteria  ✓ Done!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BFS Path:  Main Gate → Library → Engineering Building → Student Center → Computer Lab → Cafeteria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— Python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Structure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200400" cy="347472"/>
          </a:xfrm>
          <a:prstGeom prst="rect">
            <a:avLst/>
          </a:prstGeom>
          <a:solidFill>
            <a:srgbClr val="EDF5FB"/>
          </a:solidFill>
          <a:ln w="12700">
            <a:solidFill>
              <a:srgbClr val="ED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campus_map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146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(main data)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93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get_adjacency_list()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14600" y="192938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the dict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2304288"/>
            <a:ext cx="3200400" cy="347472"/>
          </a:xfrm>
          <a:prstGeom prst="rect">
            <a:avLst/>
          </a:prstGeom>
          <a:solidFill>
            <a:srgbClr val="EDF5FB"/>
          </a:solidFill>
          <a:ln w="12700">
            <a:solidFill>
              <a:srgbClr val="EDF5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50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get_adjacency_matrix()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3500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N×N matrix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2724912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70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get_edge_list()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14600" y="27706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unique edge pairs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145536"/>
            <a:ext cx="3200400" cy="347472"/>
          </a:xfrm>
          <a:prstGeom prst="rect">
            <a:avLst/>
          </a:prstGeom>
          <a:solidFill>
            <a:srgbClr val="EDF5FB"/>
          </a:solidFill>
          <a:ln w="12700">
            <a:solidFill>
              <a:srgbClr val="ED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912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demonstrate_conversion()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19125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list→matrix steps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bfs_traversal(start)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6118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with step-by-step output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3986784"/>
            <a:ext cx="3200400" cy="347472"/>
          </a:xfrm>
          <a:prstGeom prst="rect">
            <a:avLst/>
          </a:prstGeom>
          <a:solidFill>
            <a:srgbClr val="EDF5FB"/>
          </a:solidFill>
          <a:ln w="12700">
            <a:solidFill>
              <a:srgbClr val="EDF5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325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search_location(term)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403250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building name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40740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531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14600" y="44531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960120"/>
            <a:ext cx="484632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206240" y="1051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BFS Traversal Function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06240" y="146304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bfs_traversal(start):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 = set()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queue = deque([start])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visited.add(start)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order = []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queue: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= queue.popleft()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order.append(current)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neighbor in campus_map[current]: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neighbor not in visited: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visited.add(neighbor)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queue.append(neighbor)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print(" -&gt; ".join(order))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— Program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429768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Adjacency List Output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4023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 Gate       → [Library, Engineering Building]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         → [Main Gate, Student Center]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Engineering Bldg→ [Main Gate, Computer Lab]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Center  → [Library, Cafeteria]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Lab    → [Engineering Building]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Cafeteria       → [Student Center]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92040" y="960120"/>
            <a:ext cx="3977640" cy="3931920"/>
          </a:xfrm>
          <a:prstGeom prst="rect">
            <a:avLst/>
          </a:prstGeom>
          <a:solidFill>
            <a:srgbClr val="021B2E"/>
          </a:solidFill>
          <a:ln w="12700">
            <a:solidFill>
              <a:srgbClr val="021B2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05156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BFS Traversal (from Main Gate)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703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1: Visiting 'Main Gate'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Adding: Library, Eng. Bldg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2: Visiting 'Library'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Adding: Student Center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3: Visiting 'Engineering Bldg'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Adding: Computer Lab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Path: Main Gate → Library 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Eng. Bldg → Student Center →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E6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Computer Lab → Cafeteria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464515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6   |   Edges: 5   |   BFS Visited All 6 Nodes   |   Graph Type: Undirected, Unweighted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 — Analysis &amp;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2697480" cy="3931920"/>
          </a:xfrm>
          <a:prstGeom prst="rect">
            <a:avLst/>
          </a:prstGeom>
          <a:solidFill>
            <a:srgbClr val="E8F5EE"/>
          </a:solidFill>
          <a:ln w="12700">
            <a:solidFill>
              <a:srgbClr val="E8F5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11480" y="960120"/>
            <a:ext cx="2697480" cy="34747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21208" y="1389888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Adjacency list is space-efficient for sparse graphs — our campus has few edges relative to V²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guarantees all reachable nodes are found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demo makes the relationship between representations explicit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edge lookup with the matrix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960120"/>
            <a:ext cx="2697480" cy="3931920"/>
          </a:xfrm>
          <a:prstGeom prst="rect">
            <a:avLst/>
          </a:prstGeom>
          <a:solidFill>
            <a:srgbClr val="FBF0E8"/>
          </a:solidFill>
          <a:ln w="12700">
            <a:solidFill>
              <a:srgbClr val="FBF0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46120" y="960120"/>
            <a:ext cx="2697480" cy="347472"/>
          </a:xfrm>
          <a:prstGeom prst="rect">
            <a:avLst/>
          </a:prstGeom>
          <a:solidFill>
            <a:srgbClr val="A04020"/>
          </a:solidFill>
          <a:ln w="12700">
            <a:solidFill>
              <a:srgbClr val="A040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987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55848" y="1389888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graph is small (6 nodes) — real campus maps could have hundreds of nodes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is unweighted — cannot find shortest distance in metres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does not find the shortest path in terms of distance, only in hops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dynamic updates — adding buildings requires code changes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97480" cy="3931920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80760" y="96012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98755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Improvements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90488" y="1389888"/>
            <a:ext cx="2487168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edge weights (distances) → enable Dijkstra's shortest-path algorithm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graph from a file or database for flexibility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DFS and compare traversal orders with BFS
</a:t>
            </a:r>
            <a:pPr algn="l" marL="342900" indent="-342900">
              <a:buSzPct val="100000"/>
              <a:buChar char="•"/>
            </a:pPr>
            <a:r>
              <a:rPr lang="en-US" sz="115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the graph with a GUI library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05840"/>
            <a:ext cx="2697480" cy="16916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1208" y="114300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78C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208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43000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GPS Navigation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networks are graphs. BFS/Dijkstra finds the shortest route between two locations.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97480" cy="16916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47288" y="114300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78C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7288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069080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Web Crawling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47288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is a graph of pages linked by URLs. BFS explores pages level by level from a starting URL.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3640" y="1005840"/>
            <a:ext cx="2697480" cy="16916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73368" y="114300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78C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14300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95160" y="11612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Networks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3368" y="16916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vertices; friendships are edges. BFS finds your connections within N degrees of separation.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2926080"/>
            <a:ext cx="2697480" cy="16916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208" y="306324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78C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063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43000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 Routing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Routers form a graph. BFS helps find paths for data packets across computer networks.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37560" y="2926080"/>
            <a:ext cx="2697480" cy="169164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47288" y="3063240"/>
            <a:ext cx="530352" cy="530352"/>
          </a:xfrm>
          <a:prstGeom prst="ellipse">
            <a:avLst/>
          </a:prstGeom>
          <a:solidFill>
            <a:srgbClr val="1C7293"/>
          </a:solidFill>
          <a:ln w="12700">
            <a:solidFill>
              <a:srgbClr val="78C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47288" y="306324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4069080" y="308152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C8E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Biological Networks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47288" y="3611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interaction networks and gene pathways are modelled as graphs for medical research.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97280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97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033272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modelled Nile University campus as a graph with 6 vertices and 5 edges.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412480" cy="6858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" y="1883664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8836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19656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graph representations were implemented: Adjacency List, Adjacency Matrix, and Edge List — each with distinct trade-offs.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78608"/>
            <a:ext cx="8412480" cy="6858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" y="2670048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700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06040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step-by-step conversion from Adjacency List to Adjacency Matrix was demonstrated both in code and visually.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64992"/>
            <a:ext cx="8412480" cy="6858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" y="3456432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4564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92424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traversal was implemented and traced manually, confirming correct level-by-level exploration.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151376"/>
            <a:ext cx="8412480" cy="685800"/>
          </a:xfrm>
          <a:prstGeom prst="rect">
            <a:avLst/>
          </a:prstGeom>
          <a:solidFill>
            <a:srgbClr val="0A4A6E"/>
          </a:solidFill>
          <a:ln w="12700">
            <a:solidFill>
              <a:srgbClr val="0A4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" y="4242816"/>
            <a:ext cx="384048" cy="38404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2428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178808"/>
            <a:ext cx="7635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theory provides powerful tools for modelling and solving real-world connectivity problems in networks, navigation, and more.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21B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11480" y="1051560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51560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24712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K. H. Rosen, Discrete Mathematics and Its Applications, 8th ed., McGraw-Hill, 2018. (Chapter 10 — Graphs)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810512"/>
            <a:ext cx="8321040" cy="658368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810512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83664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T. H. Cormen, C. E. Leiserson, R. L. Rivest, and C. Stein, Introduction to Algorithms, 3rd ed., MIT Press, 2009. (BFS — Section 22.2)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569464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69464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42616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GeeksforGeeks, 'Graph Data Structure and Algorithms,' GeeksforGeeks.org, 2024. [Online]. Available: https://www.geeksforgeeks.org/graph-data-structure-and-algorithms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328416"/>
            <a:ext cx="8321040" cy="658368"/>
          </a:xfrm>
          <a:prstGeom prst="rect">
            <a:avLst/>
          </a:prstGeom>
          <a:solidFill>
            <a:srgbClr val="D8EEF8"/>
          </a:solidFill>
          <a:ln w="12700">
            <a:solidFill>
              <a:srgbClr val="D8EE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3328416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01568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GeeksforGeeks, 'Breadth-First Search or BFS for a Graph,' GeeksforGeeks.org, 2024. [Online]. Available: https://www.geeksforgeeks.org/breadth-first-search-or-bfs-for-a-graph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87368"/>
            <a:ext cx="8321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4087368"/>
            <a:ext cx="6400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60520"/>
            <a:ext cx="8092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2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Python Software Foundation, 'collections - Container datatypes (deque),' Python 3 Documentation, docs.python.org, 2024.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Representation — Discrete Mathematics Spring 2026</dc:title>
  <dc:subject>PptxGenJS Presentation</dc:subject>
  <dc:creator>Yousef Nasser Abozaid &amp; Mostafa Yousif</dc:creator>
  <cp:lastModifiedBy>Yousef Nasser Abozaid &amp; Mostafa Yousif</cp:lastModifiedBy>
  <cp:revision>1</cp:revision>
  <dcterms:created xsi:type="dcterms:W3CDTF">2026-05-16T20:32:44Z</dcterms:created>
  <dcterms:modified xsi:type="dcterms:W3CDTF">2026-05-16T20:32:44Z</dcterms:modified>
</cp:coreProperties>
</file>